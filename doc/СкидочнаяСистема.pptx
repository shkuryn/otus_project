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0" r:id="rId2"/>
    <p:sldMasterId id="2147483681" r:id="rId3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7" r:id="rId11"/>
    <p:sldId id="268" r:id="rId12"/>
    <p:sldId id="269" r:id="rId13"/>
    <p:sldId id="270" r:id="rId14"/>
    <p:sldId id="271" r:id="rId15"/>
    <p:sldId id="263" r:id="rId16"/>
    <p:sldId id="273" r:id="rId17"/>
    <p:sldId id="274" r:id="rId18"/>
    <p:sldId id="276" r:id="rId19"/>
    <p:sldId id="277" r:id="rId20"/>
    <p:sldId id="275" r:id="rId21"/>
    <p:sldId id="272" r:id="rId22"/>
    <p:sldId id="264" r:id="rId23"/>
    <p:sldId id="265" r:id="rId24"/>
    <p:sldId id="266" r:id="rId25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Roboto Medium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F4486BE-0C09-4D71-848D-489E0893F227}">
  <a:tblStyle styleId="{EF4486BE-0C09-4D71-848D-489E0893F2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26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34" Type="http://schemas.openxmlformats.org/officeDocument/2006/relationships/font" Target="fonts/font8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5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71661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3613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83468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0845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00507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534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9676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71127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{EF4486BE-0C09-4D71-848D-489E0893F227}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{EF4486BE-0C09-4D71-848D-489E0893F227}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1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l" fontAlgn="base"/>
            <a:r>
              <a:rPr lang="ru-RU" sz="4800" b="1" i="0" dirty="0">
                <a:solidFill>
                  <a:srgbClr val="050505"/>
                </a:solidFill>
                <a:effectLst/>
                <a:latin typeface="Roboto" panose="02000000000000000000" pitchFamily="2" charset="0"/>
              </a:rPr>
              <a:t>Организация системы лояльности на предприятии</a:t>
            </a: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Архитектор 1С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>
              <a:buSzPts val="1100"/>
            </a:pPr>
            <a:r>
              <a:rPr lang="ru" sz="3000" dirty="0"/>
              <a:t>Тема: </a:t>
            </a:r>
            <a:r>
              <a:rPr lang="ru-RU" sz="3000" b="1" i="0" dirty="0">
                <a:solidFill>
                  <a:srgbClr val="050505"/>
                </a:solidFill>
                <a:effectLst/>
                <a:latin typeface="Roboto" panose="02000000000000000000" pitchFamily="2" charset="0"/>
              </a:rPr>
              <a:t>Организация системы лояльности на предприятии</a:t>
            </a:r>
            <a:br>
              <a:rPr lang="ru-RU" sz="3000" b="1" i="0" dirty="0">
                <a:solidFill>
                  <a:srgbClr val="050505"/>
                </a:solidFill>
                <a:effectLst/>
                <a:latin typeface="Roboto" panose="02000000000000000000" pitchFamily="2" charset="0"/>
              </a:rPr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64" name="Google Shape;164;p37"/>
          <p:cNvPicPr preferRelativeResize="0"/>
          <p:nvPr/>
        </p:nvPicPr>
        <p:blipFill>
          <a:blip r:embed="rId3"/>
          <a:srcRect t="664" b="664"/>
          <a:stretch/>
        </p:blipFill>
        <p:spPr>
          <a:xfrm>
            <a:off x="612503" y="2336401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Шкурин Игорь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В 1С с 2005г, ведущий разрабо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тчик, технический архитектор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026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" sz="28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2800" b="1" dirty="0">
                <a:latin typeface="Roboto"/>
                <a:ea typeface="Roboto"/>
                <a:cs typeface="Roboto"/>
                <a:sym typeface="Roboto"/>
              </a:rPr>
              <a:t>ь проекта: </a:t>
            </a:r>
            <a:r>
              <a:rPr lang="ru-RU" sz="28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Реализация MVP версии организации программы лояльности на</a:t>
            </a:r>
            <a:endParaRPr lang="ru-RU" sz="28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5B9F36-8818-4377-9D18-084062F9F409}"/>
              </a:ext>
            </a:extLst>
          </p:cNvPr>
          <p:cNvSpPr txBox="1"/>
          <p:nvPr/>
        </p:nvSpPr>
        <p:spPr>
          <a:xfrm>
            <a:off x="278111" y="1425462"/>
            <a:ext cx="7613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Font typeface="+mj-lt"/>
              <a:buNone/>
            </a:pPr>
            <a:r>
              <a:rPr lang="ru-RU" sz="14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Легенда проекта</a:t>
            </a:r>
            <a:r>
              <a:rPr lang="en-US" sz="14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endParaRPr lang="ru-BY" sz="14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87;p39">
            <a:extLst>
              <a:ext uri="{FF2B5EF4-FFF2-40B4-BE49-F238E27FC236}">
                <a16:creationId xmlns:a16="http://schemas.microsoft.com/office/drawing/2014/main" id="{6351D43B-EB89-411A-8F49-CEF97D1718A9}"/>
              </a:ext>
            </a:extLst>
          </p:cNvPr>
          <p:cNvSpPr/>
          <p:nvPr/>
        </p:nvSpPr>
        <p:spPr>
          <a:xfrm>
            <a:off x="638837" y="1807271"/>
            <a:ext cx="7523528" cy="3011347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Roboto Medium"/>
                <a:ea typeface="Roboto Medium"/>
                <a:cs typeface="Roboto Medium"/>
                <a:sym typeface="Roboto Medium"/>
              </a:rPr>
              <a:t>У предприятия есть учетная ИС (1С) и мобильное приложение(МП). </a:t>
            </a:r>
            <a:r>
              <a:rPr lang="ru-RU">
                <a:latin typeface="Roboto Medium"/>
                <a:ea typeface="Roboto Medium"/>
                <a:cs typeface="Roboto Medium"/>
                <a:sym typeface="Roboto Medium"/>
              </a:rPr>
              <a:t>Необходимо реализовать </a:t>
            </a:r>
            <a:r>
              <a:rPr lang="ru-RU" dirty="0">
                <a:latin typeface="Roboto Medium"/>
                <a:ea typeface="Roboto Medium"/>
                <a:cs typeface="Roboto Medium"/>
                <a:sym typeface="Roboto Medium"/>
              </a:rPr>
              <a:t>следующие требования</a:t>
            </a:r>
            <a:r>
              <a:rPr lang="en-US" dirty="0">
                <a:latin typeface="Roboto Medium"/>
                <a:ea typeface="Roboto Medium"/>
                <a:cs typeface="Roboto Medium"/>
                <a:sym typeface="Roboto Medium"/>
              </a:rPr>
              <a:t>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Roboto Medium"/>
                <a:ea typeface="Roboto Medium"/>
                <a:cs typeface="Roboto Medium"/>
                <a:sym typeface="Roboto Medium"/>
              </a:rPr>
              <a:t>Пользователь в МП регистрирует карту лояльности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Roboto Medium"/>
                <a:ea typeface="Roboto Medium"/>
                <a:cs typeface="Roboto Medium"/>
                <a:sym typeface="Roboto Medium"/>
              </a:rPr>
              <a:t>Посредством обмена через брокер сообщений карта заводится в 1С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Roboto Medium"/>
                <a:ea typeface="Roboto Medium"/>
                <a:cs typeface="Roboto Medium"/>
                <a:sym typeface="Roboto Medium"/>
              </a:rPr>
              <a:t>При продажах добавляется возможность выбрать карту лояльности и при проведении начисляется кэшбек (для максимального упрощения просто 10</a:t>
            </a:r>
            <a:r>
              <a:rPr lang="en-US" dirty="0">
                <a:latin typeface="Roboto Medium"/>
                <a:ea typeface="Roboto Medium"/>
                <a:cs typeface="Roboto Medium"/>
                <a:sym typeface="Roboto Medium"/>
              </a:rPr>
              <a:t>% </a:t>
            </a:r>
            <a:r>
              <a:rPr lang="ru-RU" dirty="0">
                <a:latin typeface="Roboto Medium"/>
                <a:ea typeface="Roboto Medium"/>
                <a:cs typeface="Roboto Medium"/>
                <a:sym typeface="Roboto Medium"/>
              </a:rPr>
              <a:t>от суммы продажи).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Roboto Medium"/>
                <a:ea typeface="Roboto Medium"/>
                <a:cs typeface="Roboto Medium"/>
                <a:sym typeface="Roboto Medium"/>
              </a:rPr>
              <a:t>Регламентным заданием через брокер сообщений пользователи в МП видят свой остаток кэшбека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Roboto Medium"/>
                <a:ea typeface="Roboto Medium"/>
                <a:cs typeface="Roboto Medium"/>
                <a:sym typeface="Roboto Medium"/>
              </a:rPr>
              <a:t>Из МП пользователи могут оформить заявку на вывод средств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latin typeface="Roboto Medium"/>
                <a:ea typeface="Roboto Medium"/>
                <a:cs typeface="Roboto Medium"/>
                <a:sym typeface="Roboto Medium"/>
              </a:rPr>
              <a:t>Заявка попадает в 1С, обрабатывается и в брокер сообщений отправляется информация о списании бонусов (дальше предполагается что эта информация обработается и неким образом средства попадут на карту привязанную к МП.</a:t>
            </a:r>
            <a:endParaRPr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853507818"/>
              </p:ext>
            </p:extLst>
          </p:nvPr>
        </p:nvGraphicFramePr>
        <p:xfrm>
          <a:off x="174810" y="1172234"/>
          <a:ext cx="8074959" cy="5094164"/>
        </p:xfrm>
        <a:graphic>
          <a:graphicData uri="http://schemas.openxmlformats.org/drawingml/2006/table">
            <a:tbl>
              <a:tblPr>
                <a:noFill/>
                <a:tableStyleId>{EF4486BE-0C09-4D71-848D-489E0893F227}</a:tableStyleId>
              </a:tblPr>
              <a:tblGrid>
                <a:gridCol w="545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9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73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4">
                  <a:txBody>
                    <a:bodyPr/>
                    <a:lstStyle/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Организация обмена между базой 1С и мобильным приложением, посредством 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RabbitMQ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организованное в регламентном задании.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1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YaxUnit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 – 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для модульного тестирования</a:t>
                      </a: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VanessaAutomation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 –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для сценарного тестирования</a:t>
                      </a: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Внедрена подсистема </a:t>
                      </a: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Оценка производительности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, для оценки производительности системы по методике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Apdex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Git, </a:t>
                      </a:r>
                      <a:r>
                        <a:rPr lang="en-US" sz="1600" b="1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github</a:t>
                      </a: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–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для хранения ведения кода проекта, созданному по шаблону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vanessa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bootstrap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СППР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 – для построения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ER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диаграммы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С4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 нотации моделирования (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demo.bpmn.io)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1C: </a:t>
                      </a: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накидка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– для прототипирования форм.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sym typeface="Roboto"/>
                        </a:rPr>
                        <a:t>docker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sym typeface="Roboto"/>
                      </a:endParaRP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sym typeface="Roboto"/>
                      </a:endParaRP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sym typeface="Roboto"/>
                      </a:endParaRP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33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YAxUnit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 – 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Roboto" panose="02000000000000000000" pitchFamily="2" charset="0"/>
                          <a:ea typeface="Roboto" panose="02000000000000000000" pitchFamily="2" charset="0"/>
                          <a:cs typeface="Arial"/>
                          <a:sym typeface="Arial"/>
                        </a:rPr>
                        <a:t>для модульного тестирования</a:t>
                      </a:r>
                      <a:endParaRPr sz="1600" b="0" dirty="0">
                        <a:solidFill>
                          <a:schemeClr val="dk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97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lang="en-US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VanessaAutomation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–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сценарного тестирования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786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Внедрена подсистема Оценка производительности, для оценки производительности системы по методике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Apdex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Git,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github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–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хранения ведения кода проекта, созданному по шаблону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vanessa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bootstrap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ru-RU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ru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285750" lvl="0" indent="-2857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78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49" y="330724"/>
            <a:ext cx="8542597" cy="7652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Схема процесса создания карты лояльности</a:t>
            </a:r>
            <a:endParaRPr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E2CFE-77FC-46E4-8AED-CBA760651592}"/>
              </a:ext>
            </a:extLst>
          </p:cNvPr>
          <p:cNvSpPr txBox="1"/>
          <p:nvPr/>
        </p:nvSpPr>
        <p:spPr>
          <a:xfrm>
            <a:off x="2286000" y="241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BY" b="0" dirty="0">
                <a:effectLst/>
              </a:rPr>
              <a:t> </a:t>
            </a:r>
            <a:endParaRPr lang="ru-BY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0B7C7F-F580-4B1E-939E-7CCB9000A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6773"/>
            <a:ext cx="9144000" cy="40877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49" y="330724"/>
            <a:ext cx="8542597" cy="7652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Схема процесса </a:t>
            </a:r>
            <a:r>
              <a:rPr lang="ru-RU" sz="3000" dirty="0"/>
              <a:t>начисления кэшбека</a:t>
            </a:r>
            <a:endParaRPr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E2CFE-77FC-46E4-8AED-CBA760651592}"/>
              </a:ext>
            </a:extLst>
          </p:cNvPr>
          <p:cNvSpPr txBox="1"/>
          <p:nvPr/>
        </p:nvSpPr>
        <p:spPr>
          <a:xfrm>
            <a:off x="2286000" y="241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BY" b="0" dirty="0">
                <a:effectLst/>
              </a:rPr>
              <a:t> </a:t>
            </a:r>
            <a:endParaRPr lang="ru-BY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5EFE1F-7779-4AF9-9890-7CE85E139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462" y="1343025"/>
            <a:ext cx="479107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976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49" y="330724"/>
            <a:ext cx="8542597" cy="7652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Схема процесса </a:t>
            </a:r>
            <a:r>
              <a:rPr lang="ru-RU" sz="3000" dirty="0"/>
              <a:t>вывода кэшбека</a:t>
            </a:r>
            <a:endParaRPr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E2CFE-77FC-46E4-8AED-CBA760651592}"/>
              </a:ext>
            </a:extLst>
          </p:cNvPr>
          <p:cNvSpPr txBox="1"/>
          <p:nvPr/>
        </p:nvSpPr>
        <p:spPr>
          <a:xfrm>
            <a:off x="2286000" y="24178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BY" b="0" dirty="0">
                <a:effectLst/>
              </a:rPr>
              <a:t> </a:t>
            </a:r>
            <a:endParaRPr lang="ru-BY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5492C4-3785-4F31-A7EB-7BA3FA942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23651"/>
            <a:ext cx="7819465" cy="420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079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5235A2-A6B3-4FAA-A8F9-8FB7BB55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ER </a:t>
            </a:r>
            <a:r>
              <a:rPr lang="ru-RU" dirty="0"/>
              <a:t>диаграмма проекта</a:t>
            </a:r>
            <a:endParaRPr lang="ru-BY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9AF1444-C3BD-4460-B07A-88BF69864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605" y="974504"/>
            <a:ext cx="2884395" cy="367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57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5235A2-A6B3-4FAA-A8F9-8FB7BB559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ER </a:t>
            </a:r>
            <a:r>
              <a:rPr lang="ru-RU" dirty="0"/>
              <a:t>диаграмма проекта</a:t>
            </a:r>
            <a:endParaRPr lang="ru-BY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A01A56-DF8D-4024-A475-B6ACFC75D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589" y="926975"/>
            <a:ext cx="2680977" cy="412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211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1230EC-1A52-428E-9275-21B19440D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738317"/>
          </a:xfrm>
        </p:spPr>
        <p:txBody>
          <a:bodyPr/>
          <a:lstStyle/>
          <a:p>
            <a:r>
              <a:rPr lang="ru-RU" dirty="0"/>
              <a:t>Прототипы форм</a:t>
            </a:r>
            <a:endParaRPr lang="ru-BY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C7D2EB5-D8A2-45BC-8A3C-17A178271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694" y="1239146"/>
            <a:ext cx="4114800" cy="173736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AF72899-A2EB-4526-810F-1D0B86446F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394" y="2976506"/>
            <a:ext cx="6858000" cy="1744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737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400" dirty="0"/>
              <a:t>Сценарное тестирование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8916086"/>
              </p:ext>
            </p:extLst>
          </p:nvPr>
        </p:nvGraphicFramePr>
        <p:xfrm>
          <a:off x="952500" y="1718400"/>
          <a:ext cx="7239000" cy="1775848"/>
        </p:xfrm>
        <a:graphic>
          <a:graphicData uri="http://schemas.openxmlformats.org/drawingml/2006/table">
            <a:tbl>
              <a:tblPr>
                <a:noFill/>
                <a:tableStyleId>{EF4486BE-0C09-4D71-848D-489E0893F227}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B65F0C6-884E-4A36-8F1A-56CA28FB1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12" y="995082"/>
            <a:ext cx="8520600" cy="41484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400" dirty="0"/>
              <a:t>Юнит тестирование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3560009983"/>
              </p:ext>
            </p:extLst>
          </p:nvPr>
        </p:nvGraphicFramePr>
        <p:xfrm>
          <a:off x="952500" y="1718400"/>
          <a:ext cx="7239000" cy="1775848"/>
        </p:xfrm>
        <a:graphic>
          <a:graphicData uri="http://schemas.openxmlformats.org/drawingml/2006/table">
            <a:tbl>
              <a:tblPr>
                <a:noFill/>
                <a:tableStyleId>{EF4486BE-0C09-4D71-848D-489E0893F227}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64559F-63B5-4689-93AC-61BA8AA8D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59" y="1015253"/>
            <a:ext cx="8288991" cy="367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859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400" dirty="0"/>
              <a:t>Оценка производительности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3872690622"/>
              </p:ext>
            </p:extLst>
          </p:nvPr>
        </p:nvGraphicFramePr>
        <p:xfrm>
          <a:off x="952500" y="1109382"/>
          <a:ext cx="7156076" cy="2384868"/>
        </p:xfrm>
        <a:graphic>
          <a:graphicData uri="http://schemas.openxmlformats.org/drawingml/2006/table">
            <a:tbl>
              <a:tblPr>
                <a:noFill/>
                <a:tableStyleId>{EF4486BE-0C09-4D71-848D-489E0893F227}</a:tableStyleId>
              </a:tblPr>
              <a:tblGrid>
                <a:gridCol w="483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2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2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2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2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FF9FEEF-4A4C-4B37-BAFB-42BCA2290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9382"/>
            <a:ext cx="9144000" cy="370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227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400" dirty="0"/>
              <a:t>Оценка производительности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3826371478"/>
              </p:ext>
            </p:extLst>
          </p:nvPr>
        </p:nvGraphicFramePr>
        <p:xfrm>
          <a:off x="952500" y="1109382"/>
          <a:ext cx="7156076" cy="2384868"/>
        </p:xfrm>
        <a:graphic>
          <a:graphicData uri="http://schemas.openxmlformats.org/drawingml/2006/table">
            <a:tbl>
              <a:tblPr>
                <a:noFill/>
                <a:tableStyleId>{EF4486BE-0C09-4D71-848D-489E0893F227}</a:tableStyleId>
              </a:tblPr>
              <a:tblGrid>
                <a:gridCol w="483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2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2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2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2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5F3E7E8-4AAC-4F02-9EC5-FED971FB8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9382"/>
            <a:ext cx="9144000" cy="388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9166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/>
              <a:t>Rabbit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109382"/>
          <a:ext cx="7156076" cy="2384868"/>
        </p:xfrm>
        <a:graphic>
          <a:graphicData uri="http://schemas.openxmlformats.org/drawingml/2006/table">
            <a:tbl>
              <a:tblPr>
                <a:noFill/>
                <a:tableStyleId>{EF4486BE-0C09-4D71-848D-489E0893F227}</a:tableStyleId>
              </a:tblPr>
              <a:tblGrid>
                <a:gridCol w="4838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2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62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2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2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21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07C4FC-C35F-4107-B6FC-6BDD50338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50" y="1109382"/>
            <a:ext cx="9144000" cy="396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82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400" dirty="0"/>
              <a:t>Код проекта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718400"/>
          <a:ext cx="7239000" cy="1775848"/>
        </p:xfrm>
        <a:graphic>
          <a:graphicData uri="http://schemas.openxmlformats.org/drawingml/2006/table">
            <a:tbl>
              <a:tblPr>
                <a:noFill/>
                <a:tableStyleId>{EF4486BE-0C09-4D71-848D-489E0893F227}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 проектом можно ознакомится по адресу: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https://github.com/Shkuryn/otus_project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342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718400"/>
          <a:ext cx="7239000" cy="2617096"/>
        </p:xfrm>
        <a:graphic>
          <a:graphicData uri="http://schemas.openxmlformats.org/drawingml/2006/table">
            <a:tbl>
              <a:tblPr>
                <a:noFill/>
                <a:tableStyleId>{EF4486BE-0C09-4D71-848D-489E0893F227}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Удалось достичь поставленных целей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Проект показался очень полезным на 9, так как удалось еще раз попрактиковаться с инструментами из прошедших ДЗ, детали многих к моменту выполнения проекта были подзабыты.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Хотел бы найти применение полученных навыков в текущей компании.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4886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1387</TotalTime>
  <Words>374</Words>
  <Application>Microsoft Office PowerPoint</Application>
  <PresentationFormat>Экран (16:9)</PresentationFormat>
  <Paragraphs>66</Paragraphs>
  <Slides>22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22</vt:i4>
      </vt:variant>
    </vt:vector>
  </HeadingPairs>
  <TitlesOfParts>
    <vt:vector size="29" baseType="lpstr">
      <vt:lpstr>Roboto</vt:lpstr>
      <vt:lpstr>Roboto Medium</vt:lpstr>
      <vt:lpstr>Arial</vt:lpstr>
      <vt:lpstr>Courier New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Организация системы лояльности на предприятии    </vt:lpstr>
      <vt:lpstr>План защиты</vt:lpstr>
      <vt:lpstr>Презентация PowerPoint</vt:lpstr>
      <vt:lpstr>Какие технологии использовались </vt:lpstr>
      <vt:lpstr>Схема процесса создания карты лояльности</vt:lpstr>
      <vt:lpstr>Схема процесса начисления кэшбека</vt:lpstr>
      <vt:lpstr>Схема процесса вывода кэшбека</vt:lpstr>
      <vt:lpstr>ER диаграмма проекта</vt:lpstr>
      <vt:lpstr>ER диаграмма проекта</vt:lpstr>
      <vt:lpstr>Прототипы форм</vt:lpstr>
      <vt:lpstr>Сценарное тестирование </vt:lpstr>
      <vt:lpstr>Юнит тестирование </vt:lpstr>
      <vt:lpstr>Оценка производительности </vt:lpstr>
      <vt:lpstr>Оценка производительности </vt:lpstr>
      <vt:lpstr>Rabbit </vt:lpstr>
      <vt:lpstr>Код проекта </vt:lpstr>
      <vt:lpstr>Выводы 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Igor</dc:creator>
  <cp:lastModifiedBy>Игорь Шкурин</cp:lastModifiedBy>
  <cp:revision>25</cp:revision>
  <dcterms:modified xsi:type="dcterms:W3CDTF">2025-09-24T19:12:45Z</dcterms:modified>
</cp:coreProperties>
</file>