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  <p:sldMasterId id="2147483680" r:id="rId2"/>
    <p:sldMasterId id="2147483681" r:id="rId3"/>
  </p:sldMasterIdLst>
  <p:notesMasterIdLst>
    <p:notesMasterId r:id="rId1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9144000" cy="5143500" type="screen16x9"/>
  <p:notesSz cx="6858000" cy="9144000"/>
  <p:embeddedFontLst>
    <p:embeddedFont>
      <p:font typeface="Roboto" panose="02000000000000000000" pitchFamily="2" charset="0"/>
      <p:regular r:id="rId16"/>
      <p:bold r:id="rId17"/>
      <p:italic r:id="rId18"/>
      <p:boldItalic r:id="rId19"/>
    </p:embeddedFont>
    <p:embeddedFont>
      <p:font typeface="Roboto Medium" panose="02000000000000000000" pitchFamily="2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397">
          <p15:clr>
            <a:srgbClr val="9AA0A6"/>
          </p15:clr>
        </p15:guide>
        <p15:guide id="3" orient="horz" pos="3240">
          <p15:clr>
            <a:srgbClr val="9AA0A6"/>
          </p15:clr>
        </p15:guide>
        <p15:guide id="4" orient="horz">
          <p15:clr>
            <a:srgbClr val="747775"/>
          </p15:clr>
        </p15:guide>
        <p15:guide id="5" orient="horz" pos="51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F4486BE-0C09-4D71-848D-489E0893F227}">
  <a:tblStyle styleId="{EF4486BE-0C09-4D71-848D-489E0893F2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2" d="100"/>
          <a:sy n="142" d="100"/>
        </p:scale>
        <p:origin x="714" y="102"/>
      </p:cViewPr>
      <p:guideLst>
        <p:guide pos="5533"/>
        <p:guide pos="397"/>
        <p:guide orient="horz" pos="3240"/>
        <p:guide orient="horz"/>
        <p:guide orient="horz" pos="5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21" Type="http://schemas.openxmlformats.org/officeDocument/2006/relationships/font" Target="fonts/font6.fntdata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10" Type="http://schemas.openxmlformats.org/officeDocument/2006/relationships/slide" Target="slides/slide7.xml"/><Relationship Id="rId19" Type="http://schemas.openxmlformats.org/officeDocument/2006/relationships/font" Target="fonts/font4.fntdata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f7d84ce1d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f7d84ce1d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104438fca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104438fca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41727d1a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41727d1a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лок текст + картинка" type="title">
  <p:cSld name="TITL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495300" y="1493850"/>
            <a:ext cx="4424100" cy="215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pic>
        <p:nvPicPr>
          <p:cNvPr id="71" name="Google Shape;7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283625" y="843000"/>
            <a:ext cx="3457500" cy="34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47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Цитата, фон градиент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604350" y="1999200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этапы процесса">
  <p:cSld name="CUSTOM_5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7" name="Google Shape;77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8" name="Google Shape;7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9" name="Google Shape;7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80" name="Google Shape;80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81" name="Google Shape;81;p19"/>
          <p:cNvSpPr txBox="1"/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" name="Google Shape;82;p19"/>
          <p:cNvSpPr txBox="1"/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" name="Google Shape;83;p19"/>
          <p:cNvSpPr txBox="1"/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3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" name="Google Shape;84;p19"/>
          <p:cNvSpPr txBox="1"/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" name="Google Shape;85;p19"/>
          <p:cNvSpPr txBox="1"/>
          <p:nvPr/>
        </p:nvSpPr>
        <p:spPr>
          <a:xfrm>
            <a:off x="98290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" name="Google Shape;86;p19"/>
          <p:cNvSpPr txBox="1"/>
          <p:nvPr/>
        </p:nvSpPr>
        <p:spPr>
          <a:xfrm>
            <a:off x="2828343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" name="Google Shape;87;p19"/>
          <p:cNvSpPr txBox="1"/>
          <p:nvPr/>
        </p:nvSpPr>
        <p:spPr>
          <a:xfrm>
            <a:off x="4587670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" name="Google Shape;88;p19"/>
          <p:cNvSpPr txBox="1"/>
          <p:nvPr/>
        </p:nvSpPr>
        <p:spPr>
          <a:xfrm>
            <a:off x="640705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писок в 2 колонки ">
  <p:cSld name="CUSTOM_8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1" name="Google Shape;91;p20"/>
          <p:cNvGraphicFramePr/>
          <p:nvPr/>
        </p:nvGraphicFramePr>
        <p:xfrm>
          <a:off x="655650" y="1745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38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9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 Описание эксперимента</a:t>
                      </a:r>
                      <a:r>
                        <a:rPr lang="ru" sz="1700" b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 Технические детали</a:t>
                      </a:r>
                      <a:endParaRPr sz="17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175">
                <a:tc>
                  <a:txBody>
                    <a:bodyPr/>
                    <a:lstStyle/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Гипотеза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Целевая аудитория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Ожидаемый результат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Roboto"/>
                        <a:buChar char="●"/>
                      </a:pPr>
                      <a:r>
                        <a:rPr lang="ru" sz="17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Реализация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Настройки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Метрики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сылка на источник" type="twoColTx">
  <p:cSld name="TITLE_AND_TWO_COLUMNS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/>
        </p:nvSpPr>
        <p:spPr>
          <a:xfrm>
            <a:off x="556300" y="4554000"/>
            <a:ext cx="423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добавьте ссылку на источник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аблица ">
  <p:cSld name="CUSTOM_1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8" name="Google Shape;98;p23"/>
          <p:cNvGraphicFramePr/>
          <p:nvPr/>
        </p:nvGraphicFramePr>
        <p:xfrm>
          <a:off x="608700" y="1593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39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4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7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>
                        <a:solidFill>
                          <a:srgbClr val="4811C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плашки + иллюстрация">
  <p:cSld name="SECTION_TITLE_AND_DESCRIPTION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1" name="Google Shape;101;p24"/>
          <p:cNvSpPr/>
          <p:nvPr/>
        </p:nvSpPr>
        <p:spPr>
          <a:xfrm>
            <a:off x="791625" y="1039150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" name="Google Shape;102;p24"/>
          <p:cNvSpPr/>
          <p:nvPr/>
        </p:nvSpPr>
        <p:spPr>
          <a:xfrm>
            <a:off x="791625" y="1904882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" name="Google Shape;103;p24"/>
          <p:cNvSpPr/>
          <p:nvPr/>
        </p:nvSpPr>
        <p:spPr>
          <a:xfrm>
            <a:off x="791625" y="2770607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" name="Google Shape;104;p24"/>
          <p:cNvSpPr/>
          <p:nvPr/>
        </p:nvSpPr>
        <p:spPr>
          <a:xfrm>
            <a:off x="791625" y="3636339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5" name="Google Shape;10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533900" y="1409075"/>
            <a:ext cx="2468700" cy="2468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блока">
  <p:cSld name="CUSTOM_7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6"/>
          <p:cNvSpPr/>
          <p:nvPr/>
        </p:nvSpPr>
        <p:spPr>
          <a:xfrm>
            <a:off x="932713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" name="Google Shape;111;p26"/>
          <p:cNvSpPr/>
          <p:nvPr/>
        </p:nvSpPr>
        <p:spPr>
          <a:xfrm>
            <a:off x="3436420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" name="Google Shape;112;p26"/>
          <p:cNvSpPr/>
          <p:nvPr/>
        </p:nvSpPr>
        <p:spPr>
          <a:xfrm>
            <a:off x="5940127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" name="Google Shape;113;p26"/>
          <p:cNvSpPr txBox="1"/>
          <p:nvPr/>
        </p:nvSpPr>
        <p:spPr>
          <a:xfrm>
            <a:off x="1073575" y="2074863"/>
            <a:ext cx="1846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 sz="1100"/>
          </a:p>
        </p:txBody>
      </p:sp>
      <p:sp>
        <p:nvSpPr>
          <p:cNvPr id="114" name="Google Shape;114;p26"/>
          <p:cNvSpPr txBox="1"/>
          <p:nvPr/>
        </p:nvSpPr>
        <p:spPr>
          <a:xfrm>
            <a:off x="3530920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  <p:sp>
        <p:nvSpPr>
          <p:cNvPr id="115" name="Google Shape;115;p26"/>
          <p:cNvSpPr txBox="1"/>
          <p:nvPr/>
        </p:nvSpPr>
        <p:spPr>
          <a:xfrm>
            <a:off x="6080975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жный тезис крупным шрифтом " type="secHead">
  <p:cSld name="SECTION_HEADER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2" name="Google Shape;122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7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1.png"/><Relationship Id="rId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2">
            <a:alphaModFix/>
          </a:blip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6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1"/>
          <a:stretch/>
        </p:blipFill>
        <p:spPr>
          <a:xfrm>
            <a:off x="-75950" y="-3216975"/>
            <a:ext cx="9408753" cy="8360474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433125" y="1534950"/>
            <a:ext cx="7584300" cy="2400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l" fontAlgn="base"/>
            <a:r>
              <a:rPr lang="ru-RU" sz="48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  <a:t>Организация системы лояльности на предприятии</a:t>
            </a: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629700" y="4138025"/>
            <a:ext cx="2920500" cy="4266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886050" y="4127375"/>
            <a:ext cx="2407800" cy="4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9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Архитектор 1С</a:t>
            </a:r>
            <a:endParaRPr sz="1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9723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6"/>
          <p:cNvSpPr txBox="1">
            <a:spLocks noGrp="1"/>
          </p:cNvSpPr>
          <p:nvPr>
            <p:ph type="title"/>
          </p:nvPr>
        </p:nvSpPr>
        <p:spPr>
          <a:xfrm>
            <a:off x="744125" y="1415974"/>
            <a:ext cx="7935300" cy="14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>
                <a:solidFill>
                  <a:schemeClr val="dk1"/>
                </a:solidFill>
              </a:rPr>
              <a:t>Меня хорошо видно</a:t>
            </a:r>
            <a:endParaRPr sz="4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>
                <a:solidFill>
                  <a:schemeClr val="dk1"/>
                </a:solidFill>
              </a:rPr>
              <a:t>&amp; слышно?</a:t>
            </a:r>
            <a:endParaRPr sz="4000">
              <a:solidFill>
                <a:schemeClr val="dk1"/>
              </a:solidFill>
            </a:endParaRPr>
          </a:p>
        </p:txBody>
      </p:sp>
      <p:pic>
        <p:nvPicPr>
          <p:cNvPr id="157" name="Google Shape;15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7"/>
          <p:cNvSpPr txBox="1">
            <a:spLocks noGrp="1"/>
          </p:cNvSpPr>
          <p:nvPr>
            <p:ph type="title"/>
          </p:nvPr>
        </p:nvSpPr>
        <p:spPr>
          <a:xfrm>
            <a:off x="500550" y="313624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/>
              <a:t>Защита проекта</a:t>
            </a:r>
            <a:endParaRPr sz="3000" dirty="0"/>
          </a:p>
          <a:p>
            <a:pPr>
              <a:buSzPts val="1100"/>
            </a:pPr>
            <a:r>
              <a:rPr lang="ru" sz="3000" dirty="0"/>
              <a:t>Тема: </a:t>
            </a:r>
            <a:r>
              <a:rPr lang="ru-RU" sz="30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  <a:t>Организация системы лояльности на предприятии</a:t>
            </a:r>
            <a:br>
              <a:rPr lang="ru-RU" sz="30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</a:b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64" name="Google Shape;164;p37"/>
          <p:cNvPicPr preferRelativeResize="0"/>
          <p:nvPr/>
        </p:nvPicPr>
        <p:blipFill>
          <a:blip r:embed="rId3"/>
          <a:srcRect t="664" b="664"/>
          <a:stretch/>
        </p:blipFill>
        <p:spPr>
          <a:xfrm>
            <a:off x="612503" y="2336401"/>
            <a:ext cx="2349900" cy="23187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65" name="Google Shape;165;p37"/>
          <p:cNvSpPr txBox="1"/>
          <p:nvPr/>
        </p:nvSpPr>
        <p:spPr>
          <a:xfrm>
            <a:off x="3899475" y="2336401"/>
            <a:ext cx="370170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3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Шкурин Игорь</a:t>
            </a:r>
            <a:endParaRPr sz="2300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37"/>
          <p:cNvSpPr txBox="1"/>
          <p:nvPr/>
        </p:nvSpPr>
        <p:spPr>
          <a:xfrm>
            <a:off x="3899475" y="2893375"/>
            <a:ext cx="31932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00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В 1С с 2005г, ведущий разрабо</a:t>
            </a:r>
            <a:r>
              <a:rPr lang="ru-RU" sz="1300" dirty="0">
                <a:latin typeface="Roboto Medium"/>
                <a:ea typeface="Roboto Medium"/>
                <a:cs typeface="Roboto Medium"/>
                <a:sym typeface="Roboto Medium"/>
              </a:rPr>
              <a:t>тчик, технический архитектор</a:t>
            </a:r>
            <a:endParaRPr sz="1300" dirty="0"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8"/>
          <p:cNvSpPr txBox="1">
            <a:spLocks noGrp="1"/>
          </p:cNvSpPr>
          <p:nvPr>
            <p:ph type="title"/>
          </p:nvPr>
        </p:nvSpPr>
        <p:spPr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План защиты</a:t>
            </a:r>
            <a:endParaRPr/>
          </a:p>
        </p:txBody>
      </p:sp>
      <p:sp>
        <p:nvSpPr>
          <p:cNvPr id="172" name="Google Shape;172;p38"/>
          <p:cNvSpPr/>
          <p:nvPr/>
        </p:nvSpPr>
        <p:spPr>
          <a:xfrm>
            <a:off x="1138125" y="149130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" name="Google Shape;173;p38"/>
          <p:cNvSpPr/>
          <p:nvPr/>
        </p:nvSpPr>
        <p:spPr>
          <a:xfrm>
            <a:off x="1138125" y="207149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технологии использовались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38"/>
          <p:cNvSpPr/>
          <p:nvPr/>
        </p:nvSpPr>
        <p:spPr>
          <a:xfrm>
            <a:off x="1138125" y="265167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получилось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38"/>
          <p:cNvSpPr/>
          <p:nvPr/>
        </p:nvSpPr>
        <p:spPr>
          <a:xfrm>
            <a:off x="1138125" y="324622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6" name="Google Shape;176;p38"/>
          <p:cNvCxnSpPr>
            <a:stCxn id="172" idx="1"/>
            <a:endCxn id="173" idx="1"/>
          </p:cNvCxnSpPr>
          <p:nvPr/>
        </p:nvCxnSpPr>
        <p:spPr>
          <a:xfrm>
            <a:off x="1138125" y="167940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7" name="Google Shape;177;p38"/>
          <p:cNvCxnSpPr>
            <a:stCxn id="173" idx="1"/>
            <a:endCxn id="174" idx="1"/>
          </p:cNvCxnSpPr>
          <p:nvPr/>
        </p:nvCxnSpPr>
        <p:spPr>
          <a:xfrm>
            <a:off x="1138125" y="225959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8" name="Google Shape;178;p38"/>
          <p:cNvCxnSpPr>
            <a:stCxn id="174" idx="1"/>
            <a:endCxn id="175" idx="1"/>
          </p:cNvCxnSpPr>
          <p:nvPr/>
        </p:nvCxnSpPr>
        <p:spPr>
          <a:xfrm>
            <a:off x="1138125" y="2839776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9" name="Google Shape;179;p38"/>
          <p:cNvCxnSpPr>
            <a:stCxn id="175" idx="1"/>
            <a:endCxn id="180" idx="1"/>
          </p:cNvCxnSpPr>
          <p:nvPr/>
        </p:nvCxnSpPr>
        <p:spPr>
          <a:xfrm>
            <a:off x="1138125" y="3434325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0" name="Google Shape;180;p38"/>
          <p:cNvSpPr/>
          <p:nvPr/>
        </p:nvSpPr>
        <p:spPr>
          <a:xfrm>
            <a:off x="1138137" y="377287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9"/>
          <p:cNvSpPr txBox="1"/>
          <p:nvPr/>
        </p:nvSpPr>
        <p:spPr>
          <a:xfrm>
            <a:off x="560500" y="324881"/>
            <a:ext cx="8520600" cy="1026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" sz="2800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Цел</a:t>
            </a:r>
            <a:r>
              <a:rPr lang="ru" sz="2800" b="1" dirty="0">
                <a:latin typeface="Roboto"/>
                <a:ea typeface="Roboto"/>
                <a:cs typeface="Roboto"/>
                <a:sym typeface="Roboto"/>
              </a:rPr>
              <a:t>ь проекта: </a:t>
            </a:r>
            <a:r>
              <a:rPr lang="ru-RU" sz="28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Реализация MVP версии организации программы лояльности на</a:t>
            </a:r>
            <a:endParaRPr lang="ru-RU" sz="28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5B9F36-8818-4377-9D18-084062F9F409}"/>
              </a:ext>
            </a:extLst>
          </p:cNvPr>
          <p:cNvSpPr txBox="1"/>
          <p:nvPr/>
        </p:nvSpPr>
        <p:spPr>
          <a:xfrm>
            <a:off x="278111" y="1425462"/>
            <a:ext cx="7613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ru-RU" sz="14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Легенда проекта</a:t>
            </a:r>
            <a:r>
              <a:rPr lang="en-US" sz="14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endParaRPr lang="ru-BY" sz="1400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" name="Google Shape;187;p39">
            <a:extLst>
              <a:ext uri="{FF2B5EF4-FFF2-40B4-BE49-F238E27FC236}">
                <a16:creationId xmlns:a16="http://schemas.microsoft.com/office/drawing/2014/main" id="{6351D43B-EB89-411A-8F49-CEF97D1718A9}"/>
              </a:ext>
            </a:extLst>
          </p:cNvPr>
          <p:cNvSpPr/>
          <p:nvPr/>
        </p:nvSpPr>
        <p:spPr>
          <a:xfrm>
            <a:off x="638837" y="1807271"/>
            <a:ext cx="7523528" cy="3011347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У предприятия есть учетная ИС (1С) и мобильное приложение(МП). Необходимо организовать следующие требования</a:t>
            </a:r>
            <a:r>
              <a:rPr lang="en-US" dirty="0">
                <a:latin typeface="Roboto Medium"/>
                <a:ea typeface="Roboto Medium"/>
                <a:cs typeface="Roboto Medium"/>
                <a:sym typeface="Roboto Medium"/>
              </a:rPr>
              <a:t>: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Пользователь в МП регистрирует карту лояльности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Посредством обмена через брокер сообщений карта заводится в 1С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При продажах добавляется возможность выбрать карту лояльности и при проведении начисляется кэшбек (для максимального упрощения просто 10</a:t>
            </a:r>
            <a:r>
              <a:rPr lang="en-US" dirty="0">
                <a:latin typeface="Roboto Medium"/>
                <a:ea typeface="Roboto Medium"/>
                <a:cs typeface="Roboto Medium"/>
                <a:sym typeface="Roboto Medium"/>
              </a:rPr>
              <a:t>% </a:t>
            </a: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от суммы продажи). 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Регламентным заданием через брокер сообщений пользователи в МП видят свой остаток кэшбека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Из МП пользователи могут оформить заявку на вывод средств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Заявка попадает в 1С, обрабатывается и в брокер сообщений отправляется информация о списании бонусов (дальше предполагается что эта информация обработается и неким образом средства попадут на карту привязанную к МП.</a:t>
            </a:r>
            <a:endParaRPr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Какие технологии использовались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199" name="Google Shape;199;p40"/>
          <p:cNvGraphicFramePr/>
          <p:nvPr>
            <p:extLst>
              <p:ext uri="{D42A27DB-BD31-4B8C-83A1-F6EECF244321}">
                <p14:modId xmlns:p14="http://schemas.microsoft.com/office/powerpoint/2010/main" val="853507818"/>
              </p:ext>
            </p:extLst>
          </p:nvPr>
        </p:nvGraphicFramePr>
        <p:xfrm>
          <a:off x="174810" y="1172234"/>
          <a:ext cx="8074959" cy="5094164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5459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290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733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4">
                  <a:txBody>
                    <a:bodyPr/>
                    <a:lstStyle/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Организация обмена между базой 1С и мобильным приложением, посредством </a:t>
                      </a: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RabbitMQ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организованное в регламентном задании.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YaxUnit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 – </a:t>
                      </a:r>
                      <a:r>
                        <a:rPr lang="ru-RU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для модульного тестирования</a:t>
                      </a: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b="1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VanessaAutomation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для сценарного тестирования</a:t>
                      </a: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Внедрена подсистема </a:t>
                      </a: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Оценка производительности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, для оценки производительности системы по методике </a:t>
                      </a: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Apdex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Git, </a:t>
                      </a:r>
                      <a:r>
                        <a:rPr lang="en-US" sz="1600" b="1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github</a:t>
                      </a: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для хранения ведения кода проекта, созданному по шаблону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vanessa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bootstrap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СППР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– для построения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ER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диаграммы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С4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нотации моделирования (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demo.bpmn.io)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1C: </a:t>
                      </a: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накидка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– для прототипирования форм.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docker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ru"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en-US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33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YAxUnit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 – </a:t>
                      </a:r>
                      <a:r>
                        <a:rPr lang="ru-RU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для модульного тестирования</a:t>
                      </a:r>
                      <a:endParaRPr sz="1600" b="0" dirty="0">
                        <a:solidFill>
                          <a:schemeClr val="dk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97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lang="en-US"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VanessaAutomation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для сценарного тестирования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786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Внедрена подсистема Оценка производительности, для оценки производительности системы по методике </a:t>
                      </a: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Apdex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en-US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Git, </a:t>
                      </a: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github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для хранения ведения кода проекта, созданному по шаблону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vanessa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bootstrap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ru"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en-US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978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49" y="330724"/>
            <a:ext cx="8542597" cy="7652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Схема процесса создания карты лояльности</a:t>
            </a:r>
            <a:endParaRPr sz="3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5E2CFE-77FC-46E4-8AED-CBA760651592}"/>
              </a:ext>
            </a:extLst>
          </p:cNvPr>
          <p:cNvSpPr txBox="1"/>
          <p:nvPr/>
        </p:nvSpPr>
        <p:spPr>
          <a:xfrm>
            <a:off x="2286000" y="241786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BY" b="0" dirty="0">
                <a:effectLst/>
              </a:rPr>
              <a:t> </a:t>
            </a:r>
            <a:endParaRPr lang="ru-BY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60B7C7F-F580-4B1E-939E-7CCB9000A2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86773"/>
            <a:ext cx="9144000" cy="40877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/>
              <a:t>Выводы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213" name="Google Shape;213;p42"/>
          <p:cNvGraphicFramePr/>
          <p:nvPr>
            <p:extLst>
              <p:ext uri="{D42A27DB-BD31-4B8C-83A1-F6EECF244321}">
                <p14:modId xmlns:p14="http://schemas.microsoft.com/office/powerpoint/2010/main" val="1405128228"/>
              </p:ext>
            </p:extLst>
          </p:nvPr>
        </p:nvGraphicFramePr>
        <p:xfrm>
          <a:off x="952500" y="1718400"/>
          <a:ext cx="7239000" cy="2617096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Удалось достичь поставленных целей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Проект показался очень полезным на 9, так как удалось еще раз попрактиковаться с инструментами из прошедших ДЗ, детали многих к моменту выполнения проекта были подзабыты.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Хотел бы найти применение полученных навыков в текущей компании.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43"/>
          <p:cNvSpPr txBox="1"/>
          <p:nvPr/>
        </p:nvSpPr>
        <p:spPr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3" name="Google Shape;223;p43"/>
          <p:cNvSpPr txBox="1"/>
          <p:nvPr/>
        </p:nvSpPr>
        <p:spPr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p43"/>
          <p:cNvSpPr txBox="1"/>
          <p:nvPr/>
        </p:nvSpPr>
        <p:spPr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43"/>
          <p:cNvSpPr txBox="1"/>
          <p:nvPr/>
        </p:nvSpPr>
        <p:spPr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43"/>
          <p:cNvSpPr txBox="1"/>
          <p:nvPr/>
        </p:nvSpPr>
        <p:spPr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>
                <a:solidFill>
                  <a:schemeClr val="lt1"/>
                </a:solidFill>
              </a:rPr>
              <a:t>Спасибо за внимание!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236" name="Google Shape;236;p44" title="marker-graduating-cap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45" title="ролик_об_отусе_blu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858</TotalTime>
  <Words>327</Words>
  <Application>Microsoft Office PowerPoint</Application>
  <PresentationFormat>Экран (16:9)</PresentationFormat>
  <Paragraphs>51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11</vt:i4>
      </vt:variant>
    </vt:vector>
  </HeadingPairs>
  <TitlesOfParts>
    <vt:vector size="18" baseType="lpstr">
      <vt:lpstr>Roboto</vt:lpstr>
      <vt:lpstr>Roboto Medium</vt:lpstr>
      <vt:lpstr>Arial</vt:lpstr>
      <vt:lpstr>Courier New</vt:lpstr>
      <vt:lpstr>Светлая тема</vt:lpstr>
      <vt:lpstr>Светлая тема</vt:lpstr>
      <vt:lpstr>Светлая тема</vt:lpstr>
      <vt:lpstr>Презентация PowerPoint</vt:lpstr>
      <vt:lpstr>Меня хорошо видно &amp; слышно?</vt:lpstr>
      <vt:lpstr>Защита проекта Тема: Организация системы лояльности на предприятии    </vt:lpstr>
      <vt:lpstr>План защиты</vt:lpstr>
      <vt:lpstr>Презентация PowerPoint</vt:lpstr>
      <vt:lpstr>Какие технологии использовались </vt:lpstr>
      <vt:lpstr>Схема процесса создания карты лояльности</vt:lpstr>
      <vt:lpstr>Выводы </vt:lpstr>
      <vt:lpstr>Презентация PowerPoint</vt:lpstr>
      <vt:lpstr>Спасибо за внимание!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Igor</dc:creator>
  <cp:lastModifiedBy>Игорь Шкурин</cp:lastModifiedBy>
  <cp:revision>11</cp:revision>
  <dcterms:modified xsi:type="dcterms:W3CDTF">2025-09-24T10:23:40Z</dcterms:modified>
</cp:coreProperties>
</file>